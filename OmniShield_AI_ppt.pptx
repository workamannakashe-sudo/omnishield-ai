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3" d="100"/>
          <a:sy n="133" d="100"/>
        </p:scale>
        <p:origin x="-144" y="2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80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manasviagarkar@gmail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2026  ·  HACKATHON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OmniShield 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Exam Integrity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Control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 ·  Cryptographic  ·  Unstoppable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75688" y="3246120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48456" y="3246120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2026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2nd-year B.E. AI &amp; Data Science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Sipna College of Engineering &amp; Technology, Amravati</a:t>
            </a:r>
            <a:endParaRPr lang="en-US" sz="8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28600"/>
            <a:ext cx="3474720" cy="1947672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331720"/>
            <a:ext cx="3474720" cy="19476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4389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Examinations + Agentic &amp; Autonomous Systems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Crisis of Trust in India's Exam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UG 2026 was cancelled before a single student opened a booklet.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2.27M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affected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33472" y="1627632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₹500Cr+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24912" y="22402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Re-exam cost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9744" y="1627632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01184" y="22402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 fraud cases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86016" y="1627632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77456" y="17190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77456" y="22402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EF2F2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31272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papers exist for 72 hours before exam day. Every hour they sit in physical form — at a printer, in transit, at a centre — is an hour they can be photographed, forwarded, and sold. Current solutions fight the symptom. OmniShield eliminates the cause.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Leak What Doesn't Exist Yet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the paper 45 minutes before the exam starts.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leak window drops from 72 hours to 45 minutes.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59152"/>
            <a:ext cx="4023360" cy="2578608"/>
          </a:xfrm>
          <a:prstGeom prst="roundRect">
            <a:avLst>
              <a:gd name="adj" fmla="val 2837"/>
            </a:avLst>
          </a:prstGeom>
          <a:solidFill>
            <a:srgbClr val="FFF5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— Traditional 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Paper printed 72 hrs before exam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18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Travels through 6+ human hands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602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Stored overnight at 5,000 centres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986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step is a potential leak point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370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Once leaked: irreversible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359152"/>
            <a:ext cx="4023360" cy="2578608"/>
          </a:xfrm>
          <a:prstGeom prst="roundRect">
            <a:avLst>
              <a:gd name="adj" fmla="val 2837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— OmniShield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Paper generated T−45 minutes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3218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physical paper at any point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3602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centre operates independently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986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Cryptographic watermark per student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4370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Leak window: 72 hrs → 45 minutes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78808" y="342900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Autonomous Phases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OmniShield AI secures every stage — before, during, and after the exam.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633472" cy="3337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72768"/>
            <a:ext cx="2633472" cy="420624"/>
          </a:xfrm>
          <a:prstGeom prst="roundRect">
            <a:avLst>
              <a:gd name="adj" fmla="val 17391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Pre-Exam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2697480"/>
            <a:ext cx="64008" cy="64008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517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Agent monitors Telegram,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Web, and Twitter in real 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3447288"/>
            <a:ext cx="64008" cy="64008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40156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Agent extracts structural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from flagged content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4197096"/>
            <a:ext cx="64008" cy="64008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15137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Agent compiles evidence and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backup paper autonomously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1572768"/>
            <a:ext cx="2633472" cy="3337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572768"/>
            <a:ext cx="2633472" cy="420624"/>
          </a:xfrm>
          <a:prstGeom prst="roundRect">
            <a:avLst>
              <a:gd name="adj" fmla="val 17391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20440" y="2048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Day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20440" y="2359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Generation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47872" y="2697480"/>
            <a:ext cx="64008" cy="64008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26517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Generation Agent creates questions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Claude API + FAISS vector search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47872" y="3447288"/>
            <a:ext cx="64008" cy="64008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340156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Agent surface-varies each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centre's paper — same concept, different form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47872" y="4197096"/>
            <a:ext cx="64008" cy="64008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75888" y="415137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DWT-SVD Watermark embeds centre_id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student_id invisibly into each paper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1572768"/>
            <a:ext cx="2633472" cy="3337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572768"/>
            <a:ext cx="2633472" cy="420624"/>
          </a:xfrm>
          <a:prstGeom prst="roundRect">
            <a:avLst>
              <a:gd name="adj" fmla="val 17391"/>
            </a:avLst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37960" y="2048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Post-Exam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37960" y="2359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Audit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65392" y="2697480"/>
            <a:ext cx="64008" cy="64008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26517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 runs Z-score analysis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5,000 centre answer sets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65392" y="3447288"/>
            <a:ext cx="64008" cy="64008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340156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statistically anomalous centres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question-level confidence scores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65392" y="4197096"/>
            <a:ext cx="64008" cy="64008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93408" y="415137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tamper-proof forensic PDF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Agents · LangGraph State Machine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PRE-EXAM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Telethon OSINT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· Dark Web · Twitter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64992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02152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fingerprint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hashed blueprint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71032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2784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9944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package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Dual-Authority trigger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487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If leak confirmed → triggers backup generation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EXAM DAY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2999232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GEN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Claude API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validation loop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423160" y="33832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33472" y="2999232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0632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70632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Surface-vary per centre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Self-solver check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99432" y="33832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9744" y="2999232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46904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questions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&lt; 45 seconds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75704" y="33832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67442" y="2999232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23176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DWT-SVD embed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cancellation-proof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3931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Post-exam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16052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233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1792" y="4480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anomaly analysis across 5,000 centres · Forensic PDF report · PostgreSQL append-only ledger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37960" y="30906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37960" y="3364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37960" y="3749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37960" y="41330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37960" y="4517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37960" y="49011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37960" y="52852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React 19 · TypeScript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WALKTHROUGH  ·  MODULE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Center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4592"/>
            <a:ext cx="4160520" cy="23408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61872"/>
            <a:ext cx="73152" cy="7315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12070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4,872 questions banked across Biology, Physics, Chemistry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73152" cy="7315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16824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edge servers online — India / International grid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12848"/>
            <a:ext cx="73152" cy="7315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215798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OSINT threat feed — 1 active alert flagged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688336"/>
            <a:ext cx="73152" cy="7315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" y="26334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 for real-time agent trace streaming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163824"/>
            <a:ext cx="73152" cy="7315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" y="3108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Emergency Abort — single-click kill switch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703320"/>
            <a:ext cx="1353312" cy="804672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376732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4,872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30352" y="416052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938528" y="3703320"/>
            <a:ext cx="1353312" cy="804672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11680" y="376732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011680" y="416052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419856" y="3703320"/>
            <a:ext cx="1353312" cy="804672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93008" y="376732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493008" y="416052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</a:t>
            </a:r>
            <a:endParaRPr lang="en-US" sz="8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51760"/>
            <a:ext cx="4160520" cy="234086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846320" y="502920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Threat Intelligence — Scout Agent Feed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 ·  LEAK DETECTION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Scout Agent + Dual-Authority Protocol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80744"/>
            <a:ext cx="73152" cy="73152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Telegram, Dark Web mirrors, Twitter via Telethon OSINT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73152" cy="73152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structural fingerprint — never compares real questions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73152" cy="73152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128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score: &lt; 75% = FAKE  ·  &gt; 75% = triggers verification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73152" cy="73152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883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Dual-Authority: NTA Director + Chairman must both sign to trigger backup paper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73152" cy="73152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638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Agent auto-compiles evidence: source, timestamp, confidence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67328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FFF5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40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084832" y="3840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64992" y="3840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21792" y="4133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@leak_neet2026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84832" y="4133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64992" y="4133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" y="4480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Web Mirror #4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84832" y="4480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64992" y="4480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</a:t>
            </a:r>
            <a:endParaRPr lang="en-US" sz="9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94" y="1282160"/>
            <a:ext cx="4256245" cy="25691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 ·  EXAM DAY CONTROL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6-Phase Autonomous State Machine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350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packages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MinIO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8800" y="17830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0240" y="128016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3350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0240" y="15819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20240" y="1856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Invigilator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creds hashed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0" y="17830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128016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3350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3280" y="15819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83280" y="1856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key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satellite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17830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28016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350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5819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856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servers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key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0" y="17830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128016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3350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09360" y="15819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1856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marks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files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80960" y="17830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0" y="128016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13350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0" y="15819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72400" y="1856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loaded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spools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2633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Resilience: 5,000 centres generate independently after satellite token broadcast. Central server failure = zero impact.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0632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1455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OPERATOR ACTIONS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" y="3401568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EXAM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64992" y="3401568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TIME (+15M)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9904" y="3401568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9904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ABORT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 ·  DWT-SVD WATERMARKING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Paper. Invisibly Signed.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anyone leaks a photograph of the exam paper, OmniShield identifies the exact student and centre in seconds.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20240"/>
            <a:ext cx="320040" cy="320040"/>
          </a:xfrm>
          <a:prstGeom prst="lin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2-Level Haar DWT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paper image into frequency subbands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23160" y="2423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33472" y="18288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920240"/>
            <a:ext cx="320040" cy="320040"/>
          </a:xfrm>
          <a:prstGeom prst="lin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36392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on LL Subband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70632" y="233172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Singular Value Decomposition to low-frequency component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99432" y="2423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9744" y="18288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9472" y="1920240"/>
            <a:ext cx="320040" cy="320040"/>
          </a:xfrm>
          <a:prstGeom prst="line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12664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Payload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46904" y="233172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singular values to encode centre_id + student_id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75704" y="2423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86016" y="18288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5744" y="1920240"/>
            <a:ext cx="320040" cy="320040"/>
          </a:xfrm>
          <a:prstGeom prst="lin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95744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88936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23176" y="233172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DWT restores the image — watermark is invisible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401568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493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ROBUSTNESS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Rotation ±15°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9748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JPEG compression 40%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Phone photograph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1228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 True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41148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watermark_agent.py  →  Match: True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WALKTHROUGH  ·  MODULES 5 &amp;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Control &amp; Secure Paper Viewer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Candidate Management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6192"/>
            <a:ext cx="4160520" cy="23408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0" y="12618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Secure Read-Only Paper Viewer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536192"/>
            <a:ext cx="4160520" cy="23408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4041648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1330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240,000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548640" y="4654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Watermarks generated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364992" y="4041648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56432" y="41330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456432" y="4654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allocated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72784" y="4041648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64224" y="41330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364224" y="4654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engaged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WALKTHROUGH  ·  MODULE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AI Coordinator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80744"/>
            <a:ext cx="73152" cy="7315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Claude API assistant in the operator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73152" cy="7315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with live exam context — active threat level, centre download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73152" cy="7315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128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it: 'What is the current risk level?' — gets a real answer from exam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73152" cy="7315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883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Active — pulls from PostgreSQL + Redis in real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73152" cy="7315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638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raw data and operator decision-making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2994"/>
            <a:ext cx="4160520" cy="222627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370332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794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"Hello Operator, I am your Claude-powered security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coordinator. I have access to the active exam metadata,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threat level, and centre download metrics."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 ·  POST-EXAM FORENSICS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Tamper-Proof Audit &amp; Forensic Roll Tracer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80744"/>
            <a:ext cx="73152" cy="73152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append-only ledger — every action hashed and chained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73152" cy="73152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PAPER_SEALED, EXAM_CONFIG_CREATED, CENTER_KEY_REGISTERED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73152" cy="73152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128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Roll Tracer: enter a roll number → full audit trail retrieved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73152" cy="73152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883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analysis: flags centres with statistically anomalous answer patterns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73152" cy="73152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638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forensic PDF report — admissible as legal evidence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94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PAPER_SEALED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8716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ExamBoard Admin  ·  a8f3d1c...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EXAM_CONFIG_CREATED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87168" y="4114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 ·  f9b2d7e...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CENTER_KEY_REGISTERED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87168" y="4434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Operator  ·  c8f9b2d...</a:t>
            </a:r>
            <a:endParaRPr lang="en-US" sz="8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50130"/>
            <a:ext cx="4160520" cy="22325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Operator Modules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examination integrity operating system.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54480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719072"/>
            <a:ext cx="274320" cy="274320"/>
          </a:xfrm>
          <a:prstGeom prst="lin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19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96896" y="1554480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06624" y="1719072"/>
            <a:ext cx="274320" cy="274320"/>
          </a:xfrm>
          <a:prstGeom prst="lin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6624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54096" y="1719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Configuration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9744" y="1554480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9472" y="1719072"/>
            <a:ext cx="274320" cy="274320"/>
          </a:xfrm>
          <a:prstGeom prst="line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66944" y="1719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&amp; OCR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22592" y="1554480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719072"/>
            <a:ext cx="274320" cy="274320"/>
          </a:xfrm>
          <a:prstGeom prst="lin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79792" y="1719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Builder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304288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" y="2468880"/>
            <a:ext cx="274320" cy="274320"/>
          </a:xfrm>
          <a:prstGeom prst="lin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" y="24688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Control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96896" y="2304288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06624" y="2468880"/>
            <a:ext cx="274320" cy="274320"/>
          </a:xfrm>
          <a:prstGeom prst="lin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06624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54096" y="24688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9744" y="2304288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2468880"/>
            <a:ext cx="274320" cy="274320"/>
          </a:xfrm>
          <a:prstGeom prst="line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66944" y="24688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Day Control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22592" y="2304288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2468880"/>
            <a:ext cx="274320" cy="274320"/>
          </a:xfrm>
          <a:prstGeom prst="lin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79792" y="24688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Portal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4048" y="3054096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" y="3218688"/>
            <a:ext cx="274320" cy="274320"/>
          </a:xfrm>
          <a:prstGeom prst="lin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" y="32186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Proctoring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96896" y="3054096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06624" y="3218688"/>
            <a:ext cx="274320" cy="274320"/>
          </a:xfrm>
          <a:prstGeom prst="lin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06624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054096" y="32186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Previewer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9744" y="3054096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19472" y="3218688"/>
            <a:ext cx="274320" cy="274320"/>
          </a:xfrm>
          <a:prstGeom prst="lin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66944" y="32186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&amp; Audit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022592" y="3054096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32320" y="3218688"/>
            <a:ext cx="274320" cy="274320"/>
          </a:xfrm>
          <a:prstGeom prst="line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79792" y="32186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84048" y="3803904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" y="3968496"/>
            <a:ext cx="274320" cy="274320"/>
          </a:xfrm>
          <a:prstGeom prst="lin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41248" y="39684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Coordinator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596896" y="3803904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06624" y="3968496"/>
            <a:ext cx="274320" cy="274320"/>
          </a:xfrm>
          <a:prstGeom prst="line">
            <a:avLst/>
          </a:prstGeom>
          <a:solidFill>
            <a:srgbClr val="6B7280">
              <a:alpha val="20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06624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054096" y="39684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Config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That Matter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20574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2.27M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" y="21031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affected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NEET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96896" y="1298448"/>
            <a:ext cx="20574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₹500Cr+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88336" y="21031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Re-examination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9744" y="1298448"/>
            <a:ext cx="20574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72→45min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01184" y="21031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window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22592" y="1298448"/>
            <a:ext cx="20574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114032" y="21031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999232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0723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45s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" y="35935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generation 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96896" y="2999232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30723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688336" y="35935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time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9744" y="2999232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30723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240,000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01184" y="35935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Watermarks per exam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22592" y="2999232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30723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14032" y="35935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hands on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content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3159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"OmniShield doesn't just watch the exam — it thinks before it, acts during it, and audits after it."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OmniShield AI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Exam Integrity &amp; Control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93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2.27 million students deserve better than a cancelled exam.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6060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Live 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94436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omnishield-ai.vercel.app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10712" y="251460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26060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GitHub Repo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9584" y="294436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github.com/workamannakashe-sudo/omnishield-ai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27064" y="251460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>
              <a:alpha val="7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26060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Contact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45936" y="294436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 smtClean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manasviagarkar</a:t>
            </a:r>
            <a:r>
              <a:rPr lang="en-US" sz="900" dirty="0" smtClean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@gmail.com</a:t>
            </a:r>
            <a:r>
              <a:rPr lang="en-US" sz="900" dirty="0" smtClean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858768"/>
            <a:ext cx="79552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319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-year </a:t>
            </a: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1788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2026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2026  ·  Examinations + Agentic &amp; Autonomous Systems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1194</Words>
  <Application>Microsoft Office PowerPoint</Application>
  <PresentationFormat>On-screen Show (16:9)</PresentationFormat>
  <Paragraphs>311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OmniShield AI — FAR AWAY 2026</dc:title>
  <dc:subject>PptxGenJS Presentation</dc:subject>
  <dc:creator>OmniShield AI</dc:creator>
  <cp:lastModifiedBy>lenovo</cp:lastModifiedBy>
  <cp:revision>3</cp:revision>
  <dcterms:created xsi:type="dcterms:W3CDTF">2026-06-13T03:11:25Z</dcterms:created>
  <dcterms:modified xsi:type="dcterms:W3CDTF">2026-06-13T07:08:56Z</dcterms:modified>
</cp:coreProperties>
</file>